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32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3200" cy="864000"/>
          </a:xfrm>
          <a:prstGeom prst="rect">
            <a:avLst/>
          </a:prstGeom>
          <a:solidFill>
            <a:srgbClr val="C70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678000"/>
            <a:ext cx="12193200" cy="180000"/>
          </a:xfrm>
          <a:prstGeom prst="rect">
            <a:avLst/>
          </a:prstGeom>
          <a:solidFill>
            <a:srgbClr val="C70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0000" y="108000"/>
            <a:ext cx="10800000" cy="46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微软雅黑"/>
              </a:rPr>
              <a:t>报告生成运行时：大纲交与意图融合(WYSIWYG)流程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522000"/>
            <a:ext cx="108000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>
                <a:solidFill>
                  <a:srgbClr val="FFFFFF"/>
                </a:solidFill>
                <a:latin typeface="微软雅黑"/>
              </a:rPr>
              <a:t>展示用户意图修改如何影响最终生成，以及对“越界意图”的柔性处理机制</a:t>
            </a:r>
          </a:p>
        </p:txBody>
      </p:sp>
      <p:sp>
        <p:nvSpPr>
          <p:cNvPr id="6" name="Rectangle 5"/>
          <p:cNvSpPr/>
          <p:nvPr/>
        </p:nvSpPr>
        <p:spPr>
          <a:xfrm>
            <a:off x="360000" y="1260000"/>
            <a:ext cx="11473200" cy="900000"/>
          </a:xfrm>
          <a:prstGeom prst="rect">
            <a:avLst/>
          </a:prstGeom>
          <a:solidFill>
            <a:srgbClr val="F9F9F9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ectangle 6"/>
          <p:cNvSpPr/>
          <p:nvPr/>
        </p:nvSpPr>
        <p:spPr>
          <a:xfrm>
            <a:off x="360000" y="1260000"/>
            <a:ext cx="2160000" cy="900000"/>
          </a:xfrm>
          <a:prstGeom prst="rect">
            <a:avLst/>
          </a:prstGeom>
          <a:solidFill>
            <a:srgbClr val="C70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432000" y="1584000"/>
            <a:ext cx="201599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Phase 1: 模板解析与取数</a:t>
            </a:r>
          </a:p>
        </p:txBody>
      </p:sp>
      <p:sp>
        <p:nvSpPr>
          <p:cNvPr id="9" name="Rectangle 8"/>
          <p:cNvSpPr/>
          <p:nvPr/>
        </p:nvSpPr>
        <p:spPr>
          <a:xfrm>
            <a:off x="5040000" y="1260000"/>
            <a:ext cx="18000" cy="9000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8280000" y="1260000"/>
            <a:ext cx="18000" cy="9000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00000" y="1332000"/>
            <a:ext cx="18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7000F"/>
                </a:solidFill>
                <a:latin typeface="微软雅黑"/>
              </a:rPr>
              <a:t>▶ 引擎核心动作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00000" y="1584000"/>
            <a:ext cx="21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微软雅黑"/>
              </a:rPr>
              <a:t>引擎加载 parameters，按 DAG 调度并执行无依赖的 datasets，从数据库查询出客观数值状态。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220000" y="1332000"/>
            <a:ext cx="18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7000F"/>
                </a:solidFill>
                <a:latin typeface="微软雅黑"/>
              </a:rPr>
              <a:t>▶ 模板信息运用 (Template)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220000" y="1584000"/>
            <a:ext cx="28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33333"/>
                </a:solidFill>
                <a:latin typeface="微软雅黑"/>
              </a:rPr>
              <a:t>读取 datasets[].source.query
执行 SQL / 调用 API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460000" y="1332000"/>
            <a:ext cx="18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7000F"/>
                </a:solidFill>
                <a:latin typeface="微软雅黑"/>
              </a:rPr>
              <a:t>▶ 阶段产出与对终稿的影响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60000" y="1584000"/>
            <a:ext cx="32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微软雅黑"/>
              </a:rPr>
              <a:t>【客观事实数据集】
例如：设备各测点当前温度 92℃，处于超标状态。</a:t>
            </a:r>
          </a:p>
        </p:txBody>
      </p:sp>
      <p:sp>
        <p:nvSpPr>
          <p:cNvPr id="17" name="Down Arrow 16"/>
          <p:cNvSpPr/>
          <p:nvPr/>
        </p:nvSpPr>
        <p:spPr>
          <a:xfrm>
            <a:off x="5940000" y="2196000"/>
            <a:ext cx="216000" cy="288000"/>
          </a:xfrm>
          <a:prstGeom prst="downArrow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60000" y="2520000"/>
            <a:ext cx="11473200" cy="900000"/>
          </a:xfrm>
          <a:prstGeom prst="rect">
            <a:avLst/>
          </a:prstGeom>
          <a:solidFill>
            <a:srgbClr val="FFFFFF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360000" y="2520000"/>
            <a:ext cx="2160000" cy="900000"/>
          </a:xfrm>
          <a:prstGeom prst="rect">
            <a:avLst/>
          </a:prstGeom>
          <a:solidFill>
            <a:srgbClr val="C70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432000" y="2844000"/>
            <a:ext cx="201599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Phase 2: 大纲初稿生成 (Draft)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40000" y="2520000"/>
            <a:ext cx="18000" cy="9000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280000" y="2520000"/>
            <a:ext cx="18000" cy="9000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2700000" y="2592000"/>
            <a:ext cx="18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7000F"/>
                </a:solidFill>
                <a:latin typeface="微软雅黑"/>
              </a:rPr>
              <a:t>▶ 引擎核心动作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700000" y="2844000"/>
            <a:ext cx="21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微软雅黑"/>
              </a:rPr>
              <a:t>利用查出的事实数据，注入大纲层预设的大纲指令，让 LLM 快速生成每个章节的“剧情摘要”。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20000" y="2592000"/>
            <a:ext cx="18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7000F"/>
                </a:solidFill>
                <a:latin typeface="微软雅黑"/>
              </a:rPr>
              <a:t>▶ 模板信息运用 (Template)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220000" y="2844000"/>
            <a:ext cx="28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33333"/>
                </a:solidFill>
                <a:latin typeface="微软雅黑"/>
              </a:rPr>
              <a:t>读取 outline.draft_prompt
结合 parameters + 客观事实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460000" y="2592000"/>
            <a:ext cx="18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7000F"/>
                </a:solidFill>
                <a:latin typeface="微软雅黑"/>
              </a:rPr>
              <a:t>▶ 阶段产出与对终稿的影响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460000" y="2844000"/>
            <a:ext cx="32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微软雅黑"/>
              </a:rPr>
              <a:t>【大纲预览文本】
例如：“发现设备测点超温现象，本章将讨论轴承磨损的可能性。”</a:t>
            </a:r>
          </a:p>
        </p:txBody>
      </p:sp>
      <p:sp>
        <p:nvSpPr>
          <p:cNvPr id="29" name="Down Arrow 28"/>
          <p:cNvSpPr/>
          <p:nvPr/>
        </p:nvSpPr>
        <p:spPr>
          <a:xfrm>
            <a:off x="5940000" y="3456000"/>
            <a:ext cx="216000" cy="288000"/>
          </a:xfrm>
          <a:prstGeom prst="downArrow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60000" y="3780000"/>
            <a:ext cx="11473200" cy="900000"/>
          </a:xfrm>
          <a:prstGeom prst="rect">
            <a:avLst/>
          </a:prstGeom>
          <a:solidFill>
            <a:srgbClr val="FFEBEB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60000" y="3780000"/>
            <a:ext cx="2160000" cy="900000"/>
          </a:xfrm>
          <a:prstGeom prst="rect">
            <a:avLst/>
          </a:prstGeom>
          <a:solidFill>
            <a:srgbClr val="C70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432000" y="4104000"/>
            <a:ext cx="201599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Phase 3: 用户界面交互 (WYSIWYG)</a:t>
            </a:r>
          </a:p>
        </p:txBody>
      </p:sp>
      <p:sp>
        <p:nvSpPr>
          <p:cNvPr id="33" name="Rectangle 32"/>
          <p:cNvSpPr/>
          <p:nvPr/>
        </p:nvSpPr>
        <p:spPr>
          <a:xfrm>
            <a:off x="5040000" y="3780000"/>
            <a:ext cx="18000" cy="9000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Rectangle 33"/>
          <p:cNvSpPr/>
          <p:nvPr/>
        </p:nvSpPr>
        <p:spPr>
          <a:xfrm>
            <a:off x="8280000" y="3780000"/>
            <a:ext cx="18000" cy="9000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2700000" y="3851999"/>
            <a:ext cx="18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7000F"/>
                </a:solidFill>
                <a:latin typeface="微软雅黑"/>
              </a:rPr>
              <a:t>▶ 引擎核心动作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2700000" y="4104000"/>
            <a:ext cx="21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微软雅黑"/>
              </a:rPr>
              <a:t>用户在界面看到大纲进行修改。若用户补充了数据库查不到的观察（如“现场闻到焦味”），即发生“意图越界”。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220000" y="3851999"/>
            <a:ext cx="18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7000F"/>
                </a:solidFill>
                <a:latin typeface="微软雅黑"/>
              </a:rPr>
              <a:t>▶ 模板信息运用 (Template)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5220000" y="4104000"/>
            <a:ext cx="28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33333"/>
                </a:solidFill>
                <a:latin typeface="微软雅黑"/>
              </a:rPr>
              <a:t>受控于 presentation.user_editable 标志
系统绑定修改至 {$user_note} 变量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460000" y="3851999"/>
            <a:ext cx="18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7000F"/>
                </a:solidFill>
                <a:latin typeface="微软雅黑"/>
              </a:rPr>
              <a:t>▶ 阶段产出与对终稿的影响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460000" y="4104000"/>
            <a:ext cx="32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微软雅黑"/>
              </a:rPr>
              <a:t>【强意图变量/上下文】
用户的补充文字、对主旨的修改，被作为新的 Context 保存。</a:t>
            </a:r>
          </a:p>
        </p:txBody>
      </p:sp>
      <p:sp>
        <p:nvSpPr>
          <p:cNvPr id="41" name="Down Arrow 40"/>
          <p:cNvSpPr/>
          <p:nvPr/>
        </p:nvSpPr>
        <p:spPr>
          <a:xfrm>
            <a:off x="5940000" y="4716000"/>
            <a:ext cx="216000" cy="288000"/>
          </a:xfrm>
          <a:prstGeom prst="downArrow">
            <a:avLst/>
          </a:prstGeom>
          <a:solidFill>
            <a:srgbClr val="77777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Rectangle 41"/>
          <p:cNvSpPr/>
          <p:nvPr/>
        </p:nvSpPr>
        <p:spPr>
          <a:xfrm>
            <a:off x="360000" y="5040000"/>
            <a:ext cx="11473200" cy="900000"/>
          </a:xfrm>
          <a:prstGeom prst="rect">
            <a:avLst/>
          </a:prstGeom>
          <a:solidFill>
            <a:srgbClr val="F9F9F9"/>
          </a:solidFill>
          <a:ln w="12700">
            <a:solidFill>
              <a:srgbClr val="D2D2D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Rectangle 42"/>
          <p:cNvSpPr/>
          <p:nvPr/>
        </p:nvSpPr>
        <p:spPr>
          <a:xfrm>
            <a:off x="360000" y="5040000"/>
            <a:ext cx="2160000" cy="900000"/>
          </a:xfrm>
          <a:prstGeom prst="rect">
            <a:avLst/>
          </a:prstGeom>
          <a:solidFill>
            <a:srgbClr val="C7000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TextBox 43"/>
          <p:cNvSpPr txBox="1"/>
          <p:nvPr/>
        </p:nvSpPr>
        <p:spPr>
          <a:xfrm>
            <a:off x="432000" y="5364000"/>
            <a:ext cx="2015999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微软雅黑"/>
              </a:rPr>
              <a:t>Phase 4: 最终报告编织 (AI Synthesis)</a:t>
            </a:r>
          </a:p>
        </p:txBody>
      </p:sp>
      <p:sp>
        <p:nvSpPr>
          <p:cNvPr id="45" name="Rectangle 44"/>
          <p:cNvSpPr/>
          <p:nvPr/>
        </p:nvSpPr>
        <p:spPr>
          <a:xfrm>
            <a:off x="5040000" y="5040000"/>
            <a:ext cx="18000" cy="9000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Rectangle 45"/>
          <p:cNvSpPr/>
          <p:nvPr/>
        </p:nvSpPr>
        <p:spPr>
          <a:xfrm>
            <a:off x="8280000" y="5040000"/>
            <a:ext cx="18000" cy="900000"/>
          </a:xfrm>
          <a:prstGeom prst="rect">
            <a:avLst/>
          </a:prstGeom>
          <a:solidFill>
            <a:srgbClr val="DCDC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TextBox 46"/>
          <p:cNvSpPr txBox="1"/>
          <p:nvPr/>
        </p:nvSpPr>
        <p:spPr>
          <a:xfrm>
            <a:off x="2700000" y="5112000"/>
            <a:ext cx="18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7000F"/>
                </a:solidFill>
                <a:latin typeface="微软雅黑"/>
              </a:rPr>
              <a:t>▶ 引擎核心动作</a:t>
            </a:r>
          </a:p>
        </p:txBody>
      </p:sp>
      <p:sp>
        <p:nvSpPr>
          <p:cNvPr id="48" name="TextBox 47"/>
          <p:cNvSpPr txBox="1"/>
          <p:nvPr/>
        </p:nvSpPr>
        <p:spPr>
          <a:xfrm>
            <a:off x="2700000" y="5364000"/>
            <a:ext cx="216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微软雅黑"/>
              </a:rPr>
              <a:t>不再僵硬使用 SQL，而是将【客观事实】+【用户强意图】共同注入 ai_synthesis。AI 将用户补充的越界信息作为“现场人工观察”融入专业诊断，不引发逻辑断裂。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220000" y="5112000"/>
            <a:ext cx="18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7000F"/>
                </a:solidFill>
                <a:latin typeface="微软雅黑"/>
              </a:rPr>
              <a:t>▶ 模板信息运用 (Template)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5220000" y="5364000"/>
            <a:ext cx="288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>
                <a:solidFill>
                  <a:srgbClr val="333333"/>
                </a:solidFill>
                <a:latin typeface="微软雅黑"/>
              </a:rPr>
              <a:t>执行依赖尾部的 datasets (kind: ai_synthesis)
prompt_template 包含 {$user_note}</a:t>
            </a:r>
          </a:p>
        </p:txBody>
      </p:sp>
      <p:sp>
        <p:nvSpPr>
          <p:cNvPr id="51" name="TextBox 50"/>
          <p:cNvSpPr txBox="1"/>
          <p:nvPr/>
        </p:nvSpPr>
        <p:spPr>
          <a:xfrm>
            <a:off x="8460000" y="5112000"/>
            <a:ext cx="1800000" cy="18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>
                <a:solidFill>
                  <a:srgbClr val="C7000F"/>
                </a:solidFill>
                <a:latin typeface="微软雅黑"/>
              </a:rPr>
              <a:t>▶ 阶段产出与对终稿的影响</a:t>
            </a:r>
          </a:p>
        </p:txBody>
      </p:sp>
      <p:sp>
        <p:nvSpPr>
          <p:cNvPr id="52" name="TextBox 51"/>
          <p:cNvSpPr txBox="1"/>
          <p:nvPr/>
        </p:nvSpPr>
        <p:spPr>
          <a:xfrm>
            <a:off x="8460000" y="5364000"/>
            <a:ext cx="324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>
                <a:solidFill>
                  <a:srgbClr val="333333"/>
                </a:solidFill>
                <a:latin typeface="微软雅黑"/>
              </a:rPr>
              <a:t>【最终正式报告段落】
“结合系统记录的超温事实与现场排查反馈的金属性异味，判定为...”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