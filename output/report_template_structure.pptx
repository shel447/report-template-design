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0000" y="900000"/>
            <a:ext cx="21600" cy="5724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72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智能报告模板系统  ·  整体目录与章节结构 (v2.0)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CCCC"/>
                </a:solidFill>
                <a:latin typeface="微软雅黑"/>
              </a:rPr>
              <a:t>Template Root  |  Parameters  |  Sections Tree  |  Content Model  |  v2.0 数据-展示解耦呈现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678000"/>
            <a:ext cx="7200000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微软雅黑"/>
              </a:rPr>
              <a:t>© Report Template System v2.0  |  2026-03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004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800" y="961200"/>
            <a:ext cx="54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模板整体树状结构 (YAML)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" y="1260000"/>
            <a:ext cx="4680000" cy="50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1F1F"/>
                </a:solidFill>
                <a:latin typeface="Consolas"/>
              </a:rPr>
              <a:t>[Template Root]
 ├── id: string                 (唯一标识)
 ├── type: string               (报告类型)
 ├── scene: string              (适用场景)
 ├── name: string               (展示名称)
 ├── parameters[]: array
 │    ├── id: string            (参数占位符 {param_id})
 │    ├── label: string
 │    ├── required: boolean
 │    ├── input_type: enum      (free_text | enum | dynamic)
 │    ├── multi: boolean        (允许多值则可做foreach)
 │    ├── options[]: array
 │    └── source: string
 └── sections[]: array          (递归章节树)
      ├── title: string         (支持 {param})
      ├── foreach: object
      │    ├── param: string    (绑定的已收集多值参数)
      │    └── as: string       (迭代变量名 {$varname})
      ├── subsections[]: array  (子章节嵌套)
      │    └── ...
      └── content: object       (章节叶子节点)
           ├── datasets[]       (★ v2.0 局部数据池)
           │    ├── id: string  (局部唯一)
           │    ├── depends_on: string[] (局部DAG依赖)
           │    └── source      (数据获取)
           └── presentation     (★ v2.0 视图呈现)
                ├── type: enum  (text | chart | simple_table | composite)
                └──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0000" y="1004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800" y="961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1. 参数体系与用户交互 (parameters)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220000" y="1188000"/>
          <a:ext cx="6768000" cy="6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200"/>
                <a:gridCol w="3045600"/>
                <a:gridCol w="2707200"/>
              </a:tblGrid>
              <a:tr h="1620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input_type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提取流程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</a:tr>
              <a:tr h="162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free_text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自由输入文本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LLM 自动从会话提取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enum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有限枚举选项 (声明 options)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匹配/提示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  <a:tr h="162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dynamic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动态外部来源 (声明 source)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执行查询获取后提示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220000" y="2012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0800" y="1969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2. 内容叶节点结构 (content v2.0解耦)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2214000"/>
            <a:ext cx="67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F1F1F"/>
                </a:solidFill>
                <a:latin typeface="微软雅黑"/>
              </a:rPr>
              <a:t>v2.0 将 content 节点拆分为分离且平级的两个层级，防止耦合：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220000" y="2412000"/>
          <a:ext cx="6768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880"/>
                <a:gridCol w="1082880"/>
                <a:gridCol w="4602240"/>
              </a:tblGrid>
              <a:tr h="1800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分离层级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对应字段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Model (数据获取)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datasets[]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基于 id + depends_on 构建局部 DAG，控制并发与依赖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View (视图布局)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presentation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仅描述 UI，通过 dataset_id 绑定数据 (单图单段或表格)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220000" y="3128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0800" y="3085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3. 基础呈现形式 (presentation.type)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220000" y="3311999"/>
          <a:ext cx="6768000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920"/>
                <a:gridCol w="1218240"/>
                <a:gridCol w="4263840"/>
              </a:tblGrid>
              <a:tr h="1560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type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可用 source.kind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</a:tr>
              <a:tr h="156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text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（无）/ ai_syn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静态段落 ({param}直填)，或挂载 AI 报告结论摘要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56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value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sql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执行单值 SQL，嵌于 anchor 单值锚点语句中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  <a:tr h="156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chart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sql / nl2sql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渲染折线、柱状、饼图等，自然语言可由LLM推断 chart_type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56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simple_table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sql / nl2sql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简单明细列表，自动利用查询返回结果推断列名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  <a:tr h="156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composite_table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(任何组合)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混合复杂表格！在下页详细解析（局部的独立小世界）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220000" y="4424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0800" y="4381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4. 章节展开机制 (foreach)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4608000"/>
            <a:ext cx="67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F1F1F"/>
                </a:solidFill>
                <a:latin typeface="微软雅黑"/>
              </a:rPr>
              <a:t>当一个参数被声明为 `multi: true`，系统的章节可通过 `foreach` 高效按值复制：
例如 `device_ids = [A001, A002]`，引擎会将该 chapter 克隆为两大份，内部 {$device} 变量独立。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0000" y="900000"/>
            <a:ext cx="21600" cy="5724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72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智能报告模板系统  ·  复合表格独立定义 (composite_table)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CCCC"/>
                </a:solidFill>
                <a:latin typeface="微软雅黑"/>
              </a:rPr>
              <a:t>Local DAG  |  Dataset Binding  |  ai_synthesis  |  kv_grid  |  tabular  |  Cross-referencing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678000"/>
            <a:ext cx="7200000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微软雅黑"/>
              </a:rPr>
              <a:t>© Report Template System v2.0  |  2026-03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004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800" y="961200"/>
            <a:ext cx="540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复合表格内部树状结构 (content 节点)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" y="1260000"/>
            <a:ext cx="4680000" cy="5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F1F1F"/>
                </a:solidFill>
                <a:latin typeface="Consolas"/>
              </a:rPr>
              <a:t>[content]
 ├── datasets[]                 (局部数据池/DAG图)
 │    ├── id: string            (必须全局唯一, eg: "ds_a")
 │    ├── depends_on[]: string  (等待另一数据源完成)
 │    └── source: object
 │         ├── kind: enum       (sql | nl2sql | ai_synthesis)
 │         ├── query / description 
 │         └── context          (★ ai_synthesis 专用)
 │              ├── refs[]      (引用同表格内已就绪的 dataset)
 │              └── queries[]   (额外补充查询)
 │         └── knowledge        (★ ai_synthesis 专用 RAG)
 │              └── params      (subject, symptoms, obj)
 │         └── prompt           (LLM 指令和框架)
 │
 └── presentation: object       (视图呈现布局)
      ├── type: "composite_table"
      ├── columns: integer      (网格总列数, eg: 8)
      └── sections[]: array     (从上至下的表格区段)
           ├── band: string     (可选, 合并列的首行标题)
           ├── dataset_id: str  (★ 绑定数据池的 id)
           └── layout: object   (布局渲染引擎)
                │
                ├── [type = kv_grid] (键值对区段)
                │    ├── cols_per_row, key_span, val_span
                │    └── fields[] (key, value/col)
                │
                └── [type = tabular] (行列表明细)
                     ├── headers[] (label, span, repeat)
                     └── columns[] (field, span, repeat)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0000" y="1004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800" y="961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1. 局部数据依赖执行顺序图 (DAG 解析法则)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0000" y="1188000"/>
            <a:ext cx="67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F1F1F"/>
                </a:solidFill>
                <a:latin typeface="微软雅黑"/>
              </a:rPr>
              <a:t>引擎读取 datasets，分析 depends_on。无依赖节点（如 SQL 1, SQL 2）线程并发执行。
ai_synthesis 拥有显式 depends_on，引擎等待前置 SQL 就绪后再执行大模型合成逻辑：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0" y="1584000"/>
            <a:ext cx="1080000" cy="28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0" y="1584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1F1F1F"/>
                </a:solidFill>
                <a:latin typeface="微软雅黑"/>
              </a:rPr>
              <a:t>ds_base_sql
(并发执行)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0" y="1944000"/>
            <a:ext cx="1080000" cy="28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0" y="1944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1F1F1F"/>
                </a:solidFill>
                <a:latin typeface="微软雅黑"/>
              </a:rPr>
              <a:t>ds_fault_sql
(并发执行)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8000" y="1620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000F"/>
                </a:solidFill>
                <a:latin typeface="微软雅黑"/>
              </a:rPr>
              <a:t>──▶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1980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000F"/>
                </a:solidFill>
                <a:latin typeface="微软雅黑"/>
              </a:rPr>
              <a:t>──▶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92000" y="1728000"/>
            <a:ext cx="1440000" cy="36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2000" y="172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</a:rPr>
              <a:t>ds_ai_summary
(等待两前置完成, 提取 refs)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0000" y="1764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微软雅黑"/>
              </a:rPr>
              <a:t>──▶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8000" y="1728000"/>
            <a:ext cx="1007999" cy="360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8000" y="1728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1F1F1F"/>
                </a:solidFill>
                <a:latin typeface="微软雅黑"/>
              </a:rPr>
              <a:t>presentation
各区段按序渲染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0000" y="2444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0800" y="2401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2. 知识检索三要素 (ai_synthesis knowledge)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220000" y="2628000"/>
          <a:ext cx="6767999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440"/>
                <a:gridCol w="1082880"/>
                <a:gridCol w="1895040"/>
                <a:gridCol w="3248639"/>
              </a:tblGrid>
              <a:tr h="18000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</a:rPr>
                        <a:t>要素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</a:rPr>
                        <a:t>配置字段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</a:rPr>
                        <a:t>支持提取源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</a:rPr>
                        <a:t>说明 / 例子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主体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subject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全局参数 {param}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是谁出问题？「西门子 S7-1200」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征兆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symptoms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refs 引用 (如 ds_a.name)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表现：动态筛选出 status='异常' 的测点清单汇聚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  <a:tr h="180000"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objective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静态设定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F1F1F"/>
                          </a:solidFill>
                          <a:latin typeface="微软雅黑"/>
                        </a:rPr>
                        <a:t>「对比行业维护规范给出排查建议指导」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5220000" y="3560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0800" y="3517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3. 布局模式：键值对栅格 (kv_grid 数据填充法则)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20000" y="3744000"/>
          <a:ext cx="6767999" cy="82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319"/>
                <a:gridCol w="5143680"/>
              </a:tblGrid>
              <a:tr h="165599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绑定配置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渲染效果与用法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</a:tr>
              <a:tr h="16559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无 dataset_id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纯静态信息展示区，使用 fields[].value 直接渲染全局变量或输入文本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6559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dataset_id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单行展示模式：使用 fields[].col，按列名从查询结果首行映射填入 KV 槽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  <a:tr h="16559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dataset_id + col未声明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动态多行枚举模式：引擎按查询返回的 [key_col, value_col] 动态排版无穷长行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65603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空余槽位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公式：(key_span + val_span) * cols_per_row = cols。不足时自动用空白补齐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220000" y="4784400"/>
            <a:ext cx="64800" cy="1584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0800" y="4741200"/>
            <a:ext cx="6768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7000F"/>
                </a:solidFill>
                <a:latin typeface="微软雅黑"/>
              </a:rPr>
              <a:t>4. 布局模式：表头与明细列表 (tabular 动态能力)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220000" y="4968000"/>
          <a:ext cx="6767999" cy="6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319"/>
                <a:gridCol w="5143680"/>
              </a:tblGrid>
              <a:tr h="1620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绑定配置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</a:rPr>
                        <a:t>渲染效果与用法</a:t>
                      </a:r>
                    </a:p>
                  </a:txBody>
                  <a:tcPr marL="43200" marR="21600" marT="36000" marB="36000">
                    <a:solidFill>
                      <a:srgbClr val="C7000F"/>
                    </a:solidFill>
                  </a:tcPr>
                </a:tc>
              </a:tr>
              <a:tr h="162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常规 headers / cols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静态表头定义，直接提取 query 每行的值对应填列表格的 N 列空间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~dynamic~ 映射符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当 query 为 PIVOT 透视动态多设备结果时引入。系统自动捕捉未声明列并克隆映射</a:t>
                      </a:r>
                    </a:p>
                  </a:txBody>
                  <a:tcPr marL="43200" marR="21600" marT="36000" marB="36000">
                    <a:solidFill>
                      <a:srgbClr val="F5F5F5"/>
                    </a:solidFill>
                  </a:tcPr>
                </a:tc>
              </a:tr>
              <a:tr h="162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重复跨度 rule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1F1F"/>
                          </a:solidFill>
                          <a:latin typeface="微软雅黑"/>
                        </a:rPr>
                        <a:t>headers_span 之和必须严格等于表格声明的 Columns 总宽度配置，否则报错</a:t>
                      </a:r>
                    </a:p>
                  </a:txBody>
                  <a:tcPr marL="43200" marR="216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