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8000"/>
            <a:ext cx="12193200" cy="18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93999" y="900000"/>
            <a:ext cx="21600" cy="5724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72000"/>
            <a:ext cx="1080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智能报告模板系统  ·  数据结构定义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576000"/>
            <a:ext cx="1152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FFCCCC"/>
                </a:solidFill>
                <a:latin typeface="微软雅黑"/>
              </a:rPr>
              <a:t>Template Root  |  Parameter  |  Section  |  Content Source  |  Presentation  |  Composite Table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678000"/>
            <a:ext cx="7200000" cy="172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微软雅黑"/>
              </a:rPr>
              <a:t>© Report Template System v1.0  |  2026-03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9396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800" y="907200"/>
            <a:ext cx="5400000" cy="20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7000F"/>
                </a:solidFill>
                <a:latin typeface="微软雅黑"/>
              </a:rPr>
              <a:t>模板根字段（Template Root）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0000" y="1123200"/>
          <a:ext cx="5651998" cy="13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4320"/>
                <a:gridCol w="508679"/>
                <a:gridCol w="4238999"/>
              </a:tblGrid>
              <a:tr h="198000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字段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类型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</a:tr>
              <a:tr h="198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string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模板唯一标识（a-z / 0-9 / _）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type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string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报告类型（如：设备健康评估）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198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scene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string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场景细分（如：总部）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name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string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模板展示名称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198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parameters[]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array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参数定义列表（详见「参数」表）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198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sections[]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array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报告章节树（可多级嵌套，详见「章节」表）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26316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800" y="2599200"/>
            <a:ext cx="5400000" cy="20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7000F"/>
                </a:solidFill>
                <a:latin typeface="微软雅黑"/>
              </a:rPr>
              <a:t>章节结构（sections[] 字段）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0000" y="2815200"/>
          <a:ext cx="5652000" cy="15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80"/>
                <a:gridCol w="4295520"/>
              </a:tblGrid>
              <a:tr h="193500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字段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</a:tr>
              <a:tr h="193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区段标识，供 ai_synthesis refs 引用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193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title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章节标题，支持 {param} / {$var} 占位符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193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band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可选，区段标题行（自动全宽 colspan）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193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foreach.param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绑定的多值参数 id（需 multi:true），按每值展开章节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193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foreach.as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迭代变量名，内容中以 {$as} 引用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193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content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叶节点内容（与 subsections 互斥）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193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subsections[]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子章节列表（与 content 互斥）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120000" y="9396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0800" y="907200"/>
            <a:ext cx="5868000" cy="20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7000F"/>
                </a:solidFill>
                <a:latin typeface="微软雅黑"/>
              </a:rPr>
              <a:t>参数定义（parameters[] 字段）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0000" y="1123200"/>
          <a:ext cx="5868000" cy="16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520"/>
                <a:gridCol w="410760"/>
                <a:gridCol w="4635720"/>
              </a:tblGrid>
              <a:tr h="200250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字段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必填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</a:tr>
              <a:tr h="20025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✓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参数唯一标识，内容中以 {id} 引用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20025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label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✓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用户可读名称（用于对话提示）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20025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required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✓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布尔值，是否必填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20025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input_type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✓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free_text（自由输入）/ enum（枚举）/ dynamic（动态选项）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20025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multi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true 时允许多值，可作为 foreach 的绑定来源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20025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options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条件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input_type=enum 时的枚举选项列表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20025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source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条件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input_type=dynamic 时的动态来源（接口 URL 或 SQL）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120000" y="28476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0800" y="2815200"/>
            <a:ext cx="5868000" cy="20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7000F"/>
                </a:solidFill>
                <a:latin typeface="微软雅黑"/>
              </a:rPr>
              <a:t>数据来源（source.kind）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20000" y="3031200"/>
          <a:ext cx="5868000" cy="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880"/>
                <a:gridCol w="1408320"/>
                <a:gridCol w="3520800"/>
              </a:tblGrid>
              <a:tr h="202500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kind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关键字段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</a:tr>
              <a:tr h="202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sql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query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直接执行参数化 SQL，支持 {param} / {$var} 占位符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202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nl2sql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description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自然语言描述 → LLM 生成 SQL → 执行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2025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ai_synthesis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context / knowledge / prompt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多源上下文（refs+queries）+ RAG 知识检索 + LLM 合成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20000" y="39636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20800" y="3931200"/>
            <a:ext cx="5868000" cy="20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7000F"/>
                </a:solidFill>
                <a:latin typeface="微软雅黑"/>
              </a:rPr>
              <a:t>呈现形式（presentation.type）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20000" y="4147200"/>
          <a:ext cx="58680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6240"/>
                <a:gridCol w="997560"/>
                <a:gridCol w="1114920"/>
                <a:gridCol w="2699280"/>
              </a:tblGrid>
              <a:tr h="192000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type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关键字段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支持 source.kind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</a:tr>
              <a:tr h="192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text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template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（无）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静态文本 + 占位符替换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192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value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anchor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sql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SQL 单值嵌入锚点文本 {$value}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192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chart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chart_type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sql / nl2sql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可视化图形（bar / line / pie …）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192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simple_table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sql / nl2sql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普通二维明细表格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  <a:tr h="192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composite_table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columns, sections[]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sql / ai_synthesis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复合合并表格（见下方）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180000" y="5468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0800" y="5436000"/>
            <a:ext cx="11880000" cy="20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7000F"/>
                </a:solidFill>
                <a:latin typeface="微软雅黑"/>
              </a:rPr>
              <a:t>复合表格分区布局（composite_table  sections[]  layout）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80000" y="5652000"/>
          <a:ext cx="11880000" cy="9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400"/>
                <a:gridCol w="2257200"/>
                <a:gridCol w="3326400"/>
                <a:gridCol w="5346000"/>
              </a:tblGrid>
              <a:tr h="312000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layout.type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结构字段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约束规则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数据填充方式</a:t>
                      </a:r>
                    </a:p>
                  </a:txBody>
                  <a:tcPr marL="36000" marR="21600" marT="14400" marB="14400">
                    <a:solidFill>
                      <a:srgbClr val="C7000F"/>
                    </a:solidFill>
                  </a:tcPr>
                </a:tc>
              </a:tr>
              <a:tr h="312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kv_grid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cols_per_row · key_span · value_span · fields[]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(key_span + value_span) × cols_per_row = columns；fields 不足末行以空白补齐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fields[].value（参数直填）/ fields[].col（SQL 单行按列名）/ key_col + value_col（SQL 动态 KV 展开）</a:t>
                      </a:r>
                    </a:p>
                  </a:txBody>
                  <a:tcPr marL="36000" marR="21600" marT="14400" marB="14400">
                    <a:solidFill>
                      <a:srgbClr val="FFFFFF"/>
                    </a:solidFill>
                  </a:tcPr>
                </a:tc>
              </a:tr>
              <a:tr h="312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tabular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headers[] · columns[]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headers[].span 之和 = columns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columns[].field（SQL / nl2sql 多行结果）/ ~dynamic~ 标记（PIVOT 动态列，列数运行时确定）</a:t>
                      </a:r>
                    </a:p>
                  </a:txBody>
                  <a:tcPr marL="36000" marR="21600" marT="14400" marB="14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